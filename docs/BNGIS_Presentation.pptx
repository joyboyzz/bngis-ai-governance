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0" y="-1371600"/>
            <a:ext cx="5486400" cy="5486400"/>
          </a:xfrm>
          <a:prstGeom prst="roundRect">
            <a:avLst>
              <a:gd name="adj" fmla="val 8000"/>
            </a:avLst>
          </a:prstGeom>
          <a:solidFill>
            <a:srgbClr val="141D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-457200"/>
            <a:ext cx="3657600" cy="3657600"/>
          </a:xfrm>
          <a:prstGeom prst="roundRect">
            <a:avLst>
              <a:gd name="adj" fmla="val 8000"/>
            </a:avLst>
          </a:prstGeom>
          <a:solidFill>
            <a:srgbClr val="182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84223" y="3619775"/>
            <a:ext cx="139373" cy="139373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82221" y="5239762"/>
            <a:ext cx="72228" cy="72228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33459" y="4899228"/>
            <a:ext cx="63470" cy="63470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48229" y="3504128"/>
            <a:ext cx="136280" cy="136280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07468" y="2722132"/>
            <a:ext cx="96285" cy="96285"/>
          </a:xfrm>
          <a:prstGeom prst="ellipse">
            <a:avLst/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08754" y="5111687"/>
            <a:ext cx="60639" cy="60639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25305" y="1876036"/>
            <a:ext cx="57614" cy="57614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3050" y="3790879"/>
            <a:ext cx="72724" cy="72724"/>
          </a:xfrm>
          <a:prstGeom prst="ellipse">
            <a:avLst/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71530" y="3290595"/>
            <a:ext cx="115438" cy="115438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24602" y="2780390"/>
            <a:ext cx="105271" cy="105271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818484" y="2278376"/>
            <a:ext cx="75864" cy="75864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38420" y="3638263"/>
            <a:ext cx="64732" cy="64732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26064" y="2669207"/>
            <a:ext cx="142467" cy="142467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10503" y="5634764"/>
            <a:ext cx="59648" cy="59648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15360" y="2729069"/>
            <a:ext cx="61542" cy="61542"/>
          </a:xfrm>
          <a:prstGeom prst="ellipse">
            <a:avLst/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077081" y="2028736"/>
            <a:ext cx="62832" cy="62832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85010" y="2798343"/>
            <a:ext cx="139249" cy="139249"/>
          </a:xfrm>
          <a:prstGeom prst="ellipse">
            <a:avLst/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30788" y="1103020"/>
            <a:ext cx="60340" cy="60340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79475" y="3617156"/>
            <a:ext cx="95776" cy="95776"/>
          </a:xfrm>
          <a:prstGeom prst="ellipse">
            <a:avLst/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833365" y="4770545"/>
            <a:ext cx="93198" cy="93198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55739" y="2857073"/>
            <a:ext cx="74328" cy="74328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90987" y="5897095"/>
            <a:ext cx="109064" cy="109064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00293" y="2711788"/>
            <a:ext cx="132988" cy="132988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83613" y="1351621"/>
            <a:ext cx="95238" cy="95238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55789" y="2353421"/>
            <a:ext cx="81959" cy="81959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01290" y="1693834"/>
            <a:ext cx="113073" cy="113073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77724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C8CFF"/>
                </a:solidFill>
                <a:latin typeface="Segoe UI"/>
              </a:rPr>
              <a:t>BHARATH  •  NEURO  •  GOVERNANCE  •  INTELLIGENCE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234440"/>
            <a:ext cx="8686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9933"/>
                </a:solidFill>
                <a:latin typeface="Segoe UI"/>
              </a:rPr>
              <a:t>BNGIS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278892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FFFFFF"/>
                </a:solidFill>
                <a:latin typeface="Segoe UI"/>
              </a:rPr>
              <a:t>An AI brain that connects every citizen to every government resource — in real time.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977639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 w="15240">
            <a:solidFill>
              <a:srgbClr val="7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977639"/>
            <a:ext cx="19659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B9C3FF"/>
                </a:solidFill>
                <a:latin typeface="Segoe UI"/>
              </a:rPr>
              <a:t>8 AI Modules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80360" y="3977639"/>
            <a:ext cx="1783080" cy="475488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 w="1524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3977639"/>
            <a:ext cx="17830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9FE8C2"/>
                </a:solidFill>
                <a:latin typeface="Segoe UI"/>
              </a:rPr>
              <a:t>25 Tests 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46320" y="3977639"/>
            <a:ext cx="1874519" cy="475488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 w="15240">
            <a:solidFill>
              <a:srgbClr val="3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3977639"/>
            <a:ext cx="1874519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9FE8E4"/>
                </a:solidFill>
                <a:latin typeface="Segoe UI"/>
              </a:rPr>
              <a:t>4 Languages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3977639"/>
            <a:ext cx="1600200" cy="475488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 w="1524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3977639"/>
            <a:ext cx="16002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C899"/>
                </a:solidFill>
                <a:latin typeface="Segoe UI"/>
              </a:rPr>
              <a:t>₹0 Cost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983480"/>
            <a:ext cx="5120640" cy="18288"/>
          </a:xfrm>
          <a:prstGeom prst="roundRect">
            <a:avLst>
              <a:gd name="adj" fmla="val 8000"/>
            </a:avLst>
          </a:prstGeom>
          <a:solidFill>
            <a:srgbClr val="22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1663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97A0BD"/>
                </a:solidFill>
                <a:latin typeface="Segoe UI"/>
              </a:rPr>
              <a:t>Final Year Project  •  2026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Segoe UI"/>
              </a:rPr>
              <a:t>Praveen Sudireddy  (joyboyzz)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38D6D0"/>
                </a:solidFill>
                <a:latin typeface="Segoe UI"/>
              </a:rPr>
              <a:t>github.com/joyboyzz/BNGIS-AI-Governance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56832"/>
            <a:ext cx="3716028636000" cy="20116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716028636000" y="6656832"/>
            <a:ext cx="371602863600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32057272000" y="6656832"/>
            <a:ext cx="3716028636000" cy="20116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933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India's governance crisis, in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429000" cy="192024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30552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5C5C"/>
                </a:solidFill>
                <a:latin typeface="Segoe UI"/>
              </a:rPr>
              <a:t>₹3.8 L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79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97A0BD"/>
                </a:solidFill>
                <a:latin typeface="Segoe UI"/>
              </a:rPr>
              <a:t>schemes undelivered
every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74519"/>
            <a:ext cx="3429000" cy="192024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30552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9933"/>
                </a:solidFill>
                <a:latin typeface="Segoe UI"/>
              </a:rPr>
              <a:t>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926079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97A0BD"/>
                </a:solidFill>
                <a:latin typeface="Segoe UI"/>
              </a:rPr>
              <a:t>of eligible citizens unaware
of their schemes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874519"/>
            <a:ext cx="3429000" cy="192024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2130552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5C5C"/>
                </a:solidFill>
                <a:latin typeface="Segoe UI"/>
              </a:rPr>
              <a:t>₹1.2 L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926079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97A0BD"/>
                </a:solidFill>
                <a:latin typeface="Segoe UI"/>
              </a:rPr>
              <a:t>leaked to corruption
in delivery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3429000" cy="192024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370832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D666"/>
                </a:solidFill>
                <a:latin typeface="Segoe UI"/>
              </a:rPr>
              <a:t>23%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97A0BD"/>
                </a:solidFill>
                <a:latin typeface="Segoe UI"/>
              </a:rPr>
              <a:t>ghost beneficiaries in
ration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114800"/>
            <a:ext cx="3429000" cy="192024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370832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9933"/>
                </a:solidFill>
                <a:latin typeface="Segoe UI"/>
              </a:rPr>
              <a:t>34%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516636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97A0BD"/>
                </a:solidFill>
                <a:latin typeface="Segoe UI"/>
              </a:rPr>
              <a:t>hospital beds sit
empty daily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4114800"/>
            <a:ext cx="3429000" cy="192024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4370832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5C5C"/>
                </a:solidFill>
                <a:latin typeface="Segoe UI"/>
              </a:rPr>
              <a:t>847 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5166360"/>
            <a:ext cx="3017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0">
                <a:solidFill>
                  <a:srgbClr val="97A0BD"/>
                </a:solidFill>
                <a:latin typeface="Segoe UI"/>
              </a:rPr>
              <a:t>avg time to fix
one pothole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D6684"/>
                </a:solidFill>
                <a:latin typeface="Segoe UI"/>
              </a:rPr>
              <a:t>Source: BNGIS project specification — aggregated from govt data / NDMA / NITI Aayog reports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3716028636000" cy="20116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16028636000" y="6656832"/>
            <a:ext cx="371602863600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32057272000" y="6656832"/>
            <a:ext cx="3716028636000" cy="20116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933"/>
                </a:solidFill>
                <a:latin typeface="Segoe U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FFFFF"/>
                </a:solidFill>
                <a:latin typeface="Segoe UI"/>
              </a:rPr>
              <a:t>Existing platforms give access — not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6675120" cy="841248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Segoe UI"/>
              </a:rPr>
              <a:t>MyGov / Grievance portals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82880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7A0BD"/>
                </a:solidFill>
                <a:latin typeface="Segoe UI"/>
              </a:rPr>
              <a:t>Feedback only — no intelligence, no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6675120" cy="841248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Segoe UI"/>
              </a:rPr>
              <a:t>UMANG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83464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7A0BD"/>
                </a:solidFill>
                <a:latin typeface="Segoe UI"/>
              </a:rPr>
              <a:t>Service access — no optimization or matching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6675120" cy="841248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840480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Segoe UI"/>
              </a:rPr>
              <a:t>DigiLocker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84048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7A0BD"/>
                </a:solidFill>
                <a:latin typeface="Segoe UI"/>
              </a:rPr>
              <a:t>Documents — no resource mapping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46320"/>
            <a:ext cx="6675120" cy="841248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46320"/>
            <a:ext cx="32918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FFFFFF"/>
                </a:solidFill>
                <a:latin typeface="Segoe UI"/>
              </a:rPr>
              <a:t>Smart City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846320"/>
            <a:ext cx="301752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7A0BD"/>
                </a:solidFill>
                <a:latin typeface="Segoe UI"/>
              </a:rPr>
              <a:t>Siloed — no cross-city / cross-domain learning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1828800"/>
            <a:ext cx="3886200" cy="3950208"/>
          </a:xfrm>
          <a:prstGeom prst="roundRect">
            <a:avLst>
              <a:gd name="adj" fmla="val 8000"/>
            </a:avLst>
          </a:prstGeom>
          <a:solidFill>
            <a:srgbClr val="1A1430"/>
          </a:solidFill>
          <a:ln w="1524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2103120"/>
            <a:ext cx="33832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6B9D"/>
                </a:solidFill>
                <a:latin typeface="Segoe UI"/>
              </a:rPr>
              <a:t>THE MISSING LAYER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Segoe UI"/>
              </a:rPr>
              <a:t>None of them create an intelligent neural network that connects citizens → schemes → resources → audits…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9933"/>
                </a:solidFill>
                <a:latin typeface="Segoe UI"/>
              </a:rPr>
              <a:t>…AUTOMATICALLY.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3716028636000" cy="20116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16028636000" y="6656832"/>
            <a:ext cx="371602863600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32057272000" y="6656832"/>
            <a:ext cx="3716028636000" cy="20116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B872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FFFFFF"/>
                </a:solidFill>
                <a:latin typeface="Segoe UI"/>
              </a:rPr>
              <a:t>BNGIS — one platform, eight intelligence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212140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1214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B1020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788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Citizen Neural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182112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7A0BD"/>
                </a:solidFill>
                <a:latin typeface="Segoe UI"/>
              </a:rPr>
              <a:t>10-dim need vector, privacy-first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92024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94176" y="212140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21214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B1020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788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Resource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3182112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7A0BD"/>
                </a:solidFill>
                <a:latin typeface="Segoe UI"/>
              </a:rPr>
              <a:t>allocation + reroute advisories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192024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47104" y="212140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1214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B1020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788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Scheme Matching (SMDE)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182112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7A0BD"/>
                </a:solidFill>
                <a:latin typeface="Segoe UI"/>
              </a:rPr>
              <a:t>21 real schemes, knapsack portfolio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98863" y="192024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00032" y="212140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212140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B1020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78892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Corruption Shield (CDS)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3182112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7A0BD"/>
                </a:solidFill>
                <a:latin typeface="Segoe UI"/>
              </a:rPr>
              <a:t>Benford + 5-layer anomaly 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02336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7" y="422452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422452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B1020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892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Disaster Response (DRNN)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5285232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7A0BD"/>
                </a:solidFill>
                <a:latin typeface="Segoe UI"/>
              </a:rPr>
              <a:t>SEIR simulator + flood risk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93008" y="402336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694176" y="422452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94176" y="422452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B1020"/>
                </a:solidFill>
                <a:latin typeface="Segoe U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94176" y="4892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Transparency Blockchain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94176" y="5285232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7A0BD"/>
                </a:solidFill>
                <a:latin typeface="Segoe UI"/>
              </a:rPr>
              <a:t>SHA-256 chain, tamper-proof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45936" y="402336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47104" y="422452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422452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B1020"/>
                </a:solidFill>
                <a:latin typeface="Segoe U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4892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Citizen Voice NLP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4" y="5285232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7A0BD"/>
                </a:solidFill>
                <a:latin typeface="Segoe UI"/>
              </a:rPr>
              <a:t>4-language grievance AI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98863" y="4023360"/>
            <a:ext cx="2651760" cy="18288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400032" y="422452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00032" y="4224528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0B1020"/>
                </a:solidFill>
                <a:latin typeface="Segoe U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00032" y="4892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Public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00032" y="5285232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97A0BD"/>
                </a:solidFill>
                <a:latin typeface="Segoe UI"/>
              </a:rPr>
              <a:t>bilingual, real-time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7A0BD"/>
                </a:solidFill>
                <a:latin typeface="Segoe UI"/>
              </a:rPr>
              <a:t>✅ = implemented &amp; live in this MVP   ·   Modules 6 &amp; 9 (predictive governance, coordination) on the roadmap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656832"/>
            <a:ext cx="3716028636000" cy="20116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16028636000" y="6656832"/>
            <a:ext cx="371602863600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432057272000" y="6656832"/>
            <a:ext cx="3716028636000" cy="20116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C8CFF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FFFFFF"/>
                </a:solidFill>
                <a:latin typeface="Segoe UI"/>
              </a:rPr>
              <a:t>Zero-dependency intelligence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4937760" cy="105156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 w="15240">
            <a:solidFill>
              <a:srgbClr val="7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7C8CFF"/>
                </a:solidFill>
                <a:latin typeface="Segoe UI"/>
              </a:rPr>
              <a:t>🌐 BROWSER — SPA UI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Vanilla JS + SVG charts · EN/తెలుగు · 8 pages · no CDN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4937760" cy="105156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 w="1524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45720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9933"/>
                </a:solidFill>
                <a:latin typeface="Segoe UI"/>
              </a:rPr>
              <a:t>⚡ FASTAPI REST LAYER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12 endpoints · auto docs · CORS · pydantic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343400"/>
            <a:ext cx="4937760" cy="178308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 w="1524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4572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2EB872"/>
                </a:solidFill>
                <a:latin typeface="Segoe UI"/>
              </a:rPr>
              <a:t>🧠 AI ENGINE CORE (pure Python)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cosine matching · knapsack DP · Benford χ² · robust z-scores · HHI ·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SEIR ODEs · haversine · fuzzy SequenceMatcher · SHA-256 chaining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926080" y="2834640"/>
            <a:ext cx="320040" cy="256032"/>
          </a:xfrm>
          <a:prstGeom prst="downArrow">
            <a:avLst/>
          </a:prstGeom>
          <a:solidFill>
            <a:srgbClr val="97A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2926080" y="4114800"/>
            <a:ext cx="320040" cy="256032"/>
          </a:xfrm>
          <a:prstGeom prst="downArrow">
            <a:avLst/>
          </a:prstGeom>
          <a:solidFill>
            <a:srgbClr val="97A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2926080" y="5212080"/>
            <a:ext cx="320040" cy="256032"/>
          </a:xfrm>
          <a:prstGeom prst="downArrow">
            <a:avLst/>
          </a:prstGeom>
          <a:solidFill>
            <a:srgbClr val="97A0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35040" y="178308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112A22"/>
          </a:solidFill>
          <a:ln w="1524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01952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2EB872"/>
                </a:solidFill>
                <a:latin typeface="Segoe UI"/>
              </a:rPr>
              <a:t>🗂️ REAL DATA LAYER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21 real govt schemes (Central + Karnataka) · 24 Mysuru facilities ·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12 Karnataka districts · 1,250+ seeded audit transactions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3337560"/>
            <a:ext cx="5486400" cy="1371600"/>
          </a:xfrm>
          <a:prstGeom prst="roundRect">
            <a:avLst>
              <a:gd name="adj" fmla="val 8000"/>
            </a:avLst>
          </a:prstGeom>
          <a:solidFill>
            <a:srgbClr val="2A1428"/>
          </a:solidFill>
          <a:ln w="1524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3456432"/>
            <a:ext cx="5120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6B9D"/>
                </a:solidFill>
                <a:latin typeface="Segoe UI"/>
              </a:rPr>
              <a:t>⛓️ TRANSPARENCY CHAIN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every AI action auto-recorded as an immutable block ·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tamper simulation + one-click repair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4892040"/>
            <a:ext cx="5486400" cy="123444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 w="15240">
            <a:solidFill>
              <a:srgbClr val="FFD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5010912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D666"/>
                </a:solidFill>
                <a:latin typeface="Segoe UI"/>
              </a:rPr>
              <a:t>🧪 QUALITY GATE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25 pytest engine tests · GitHub Actions CI (3.11/3.12/3.13) · Docker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3716028636000" cy="20116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16028636000" y="6656832"/>
            <a:ext cx="371602863600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32057272000" y="6656832"/>
            <a:ext cx="3716028636000" cy="20116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9933"/>
                </a:solidFill>
                <a:latin typeface="Segoe UI"/>
              </a:rPr>
              <a:t>MODULE 3 — SCHEME MATCHING &amp; DELIVERY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BNGIS-Match: the algorithm that finds every rupee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148840" cy="22860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9933"/>
                </a:solidFill>
                <a:latin typeface="Segoe UI"/>
              </a:rPr>
              <a:t>1 · VECTORIZE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95728"/>
            <a:ext cx="187451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7A0BD"/>
                </a:solidFill>
                <a:latin typeface="Segoe UI"/>
              </a:rPr>
              <a:t>citizen → 10-dim need vector
income · area · occupation · gender · age · caste · disability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816352" y="2788920"/>
            <a:ext cx="256032" cy="219456"/>
          </a:xfrm>
          <a:prstGeom prst="rightArrow">
            <a:avLst/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35808" y="1828800"/>
            <a:ext cx="2148840" cy="22860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196596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9933"/>
                </a:solidFill>
                <a:latin typeface="Segoe UI"/>
              </a:rPr>
              <a:t>2 · SIMILARITY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395728"/>
            <a:ext cx="187451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7A0BD"/>
                </a:solidFill>
                <a:latin typeface="Segoe UI"/>
              </a:rPr>
              <a:t>cosine similarity vs every
scheme's eligibility signature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12080" y="2788920"/>
            <a:ext cx="256032" cy="219456"/>
          </a:xfrm>
          <a:prstGeom prst="rightArrow">
            <a:avLst/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31536" y="1828800"/>
            <a:ext cx="2148840" cy="22860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68696" y="196596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9933"/>
                </a:solidFill>
                <a:latin typeface="Segoe UI"/>
              </a:rPr>
              <a:t>3 · HARD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2395728"/>
            <a:ext cx="187451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7A0BD"/>
                </a:solidFill>
                <a:latin typeface="Segoe UI"/>
              </a:rPr>
              <a:t>age / income / land / state /
caste / flags → pass or blocker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607808" y="2788920"/>
            <a:ext cx="256032" cy="219456"/>
          </a:xfrm>
          <a:prstGeom prst="rightArrow">
            <a:avLst/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27264" y="1828800"/>
            <a:ext cx="2148840" cy="22860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4" y="196596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9933"/>
                </a:solidFill>
                <a:latin typeface="Segoe UI"/>
              </a:rPr>
              <a:t>4 · PRIORITY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64424" y="2395728"/>
            <a:ext cx="187451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7A0BD"/>
                </a:solidFill>
                <a:latin typeface="Segoe UI"/>
              </a:rPr>
              <a:t>0.35·benefit + 0.25·success
+ 0.20·effort + 0.10·sim + 0.10·urgency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003536" y="2788920"/>
            <a:ext cx="256032" cy="219456"/>
          </a:xfrm>
          <a:prstGeom prst="rightArrow">
            <a:avLst/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22992" y="1828800"/>
            <a:ext cx="2148840" cy="228600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60152" y="196596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9933"/>
                </a:solidFill>
                <a:latin typeface="Segoe UI"/>
              </a:rPr>
              <a:t>5 · 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60152" y="2395728"/>
            <a:ext cx="187451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97A0BD"/>
                </a:solidFill>
                <a:latin typeface="Segoe UI"/>
              </a:rPr>
              <a:t>greedy knapsack, effort budget,
conflict rules (MUDRA ✕ Stand-Up)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34840"/>
            <a:ext cx="10972800" cy="1554480"/>
          </a:xfrm>
          <a:prstGeom prst="roundRect">
            <a:avLst>
              <a:gd name="adj" fmla="val 8000"/>
            </a:avLst>
          </a:prstGeom>
          <a:solidFill>
            <a:srgbClr val="0F2A1C"/>
          </a:solidFill>
          <a:ln w="1524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105156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2EB872"/>
                </a:solidFill>
                <a:latin typeface="Segoe UI"/>
              </a:rPr>
              <a:t>LIVE DEMO RESULT — “Lakshmi, 34” (rural Karnataka, SC, daily-wage, ₹96k/yr)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9 eligible schemes found in 90 ms  ·  Optimal portfolio of 4: PM-JAY (₹5L health) + PMAY-G (pucca house) + Gruha Lakshmi (₹24k/yr) + Shakti (free bus)</a:t>
            </a:r>
          </a:p>
          <a:p>
            <a:pPr algn="l">
              <a:lnSpc>
                <a:spcPct val="130000"/>
              </a:lnSpc>
            </a:pPr>
            <a:r>
              <a:rPr sz="1350" b="0">
                <a:solidFill>
                  <a:srgbClr val="97A0BD"/>
                </a:solidFill>
                <a:latin typeface="Segoe UI"/>
              </a:rPr>
              <a:t>≈ ₹44,000+/year in measurable value · each match explains WHY — and why 12 others were blocked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3716028636000" cy="20116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16028636000" y="6656832"/>
            <a:ext cx="371602863600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32057272000" y="6656832"/>
            <a:ext cx="3716028636000" cy="20116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8D6D0"/>
                </a:solidFill>
                <a:latin typeface="Segoe UI"/>
              </a:rPr>
              <a:t>MODULE 2 — RESOURCE OPTIMIZATION CORTEX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Ending the “full hospital next to empty beds” paradox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577840" cy="210312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51206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38D6D0"/>
                </a:solidFill>
                <a:latin typeface="Segoe UI"/>
              </a:rPr>
              <a:t>ALLOCATION SCORE</a:t>
            </a:r>
          </a:p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Segoe UI"/>
              </a:rPr>
              <a:t>score = 0.55·proximity + 0.30·availability + 0.15·quality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97A0BD"/>
                </a:solidFill>
                <a:latin typeface="Segoe UI"/>
              </a:rPr>
              <a:t>· haversine distance from citizen location
· live utilization of every facility
· quality rating weighted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2A1810"/>
          </a:solidFill>
          <a:ln w="1524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97680"/>
            <a:ext cx="51206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FF9933"/>
                </a:solidFill>
                <a:latin typeface="Segoe UI"/>
              </a:rPr>
              <a:t>REROUTE ADVISORY (auto)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If nearest facility &gt; 85% full →
BNGIS redirects to the best facility with spare capacity + wait-time savings.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828800"/>
            <a:ext cx="5074920" cy="4160520"/>
          </a:xfrm>
          <a:prstGeom prst="roundRect">
            <a:avLst>
              <a:gd name="adj" fmla="val 8000"/>
            </a:avLst>
          </a:prstGeom>
          <a:solidFill>
            <a:srgbClr val="0F1C2A"/>
          </a:solidFill>
          <a:ln w="15240">
            <a:solidFill>
              <a:srgbClr val="7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965960"/>
            <a:ext cx="45720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7C8CFF"/>
                </a:solidFill>
                <a:latin typeface="Segoe UI"/>
              </a:rPr>
              <a:t>MYSURU NETWORK (demo)</a:t>
            </a:r>
          </a:p>
          <a:p>
            <a:pPr algn="l">
              <a:lnSpc>
                <a:spcPct val="122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400" b="0">
                <a:solidFill>
                  <a:srgbClr val="FFFFFF"/>
                </a:solidFill>
                <a:latin typeface="Segoe UI"/>
              </a:rPr>
              <a:t>24 facilities mapped — hospitals, schools, water works</a:t>
            </a:r>
          </a:p>
          <a:p>
            <a:pPr algn="l">
              <a:lnSpc>
                <a:spcPct val="122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350" b="0">
                <a:solidFill>
                  <a:srgbClr val="FF5C5C"/>
                </a:solidFill>
                <a:latin typeface="Segoe UI"/>
              </a:rPr>
              <a:t>Vijayanagar → nearest hospital 91% full</a:t>
            </a:r>
          </a:p>
          <a:p>
            <a:pPr algn="l">
              <a:lnSpc>
                <a:spcPct val="122000"/>
              </a:lnSpc>
            </a:pPr>
            <a:r>
              <a:rPr sz="1350" b="1">
                <a:solidFill>
                  <a:srgbClr val="2EB872"/>
                </a:solidFill>
                <a:latin typeface="Segoe UI"/>
              </a:rPr>
              <a:t>BNGIS reroutes +2.4 km → 32 beds free, wait −40 min</a:t>
            </a:r>
          </a:p>
          <a:p>
            <a:pPr algn="l">
              <a:lnSpc>
                <a:spcPct val="122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350" b="0">
                <a:solidFill>
                  <a:srgbClr val="97A0BD"/>
                </a:solidFill>
                <a:latin typeface="Segoe UI"/>
              </a:rPr>
              <a:t>1,075 free beds visible network-wide — the system KNOWS where the empty beds 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3716028636000" cy="20116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16028636000" y="6656832"/>
            <a:ext cx="371602863600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32057272000" y="6656832"/>
            <a:ext cx="3716028636000" cy="20116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5C5C"/>
                </a:solidFill>
                <a:latin typeface="Segoe UI"/>
              </a:rPr>
              <a:t>MODULE 4 — CORRUPTION DETECTION SHIELD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Five AI layers that audit 1,250+ transactions in 120 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852160" cy="713232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92807"/>
            <a:ext cx="566928" cy="502920"/>
          </a:xfrm>
          <a:prstGeom prst="roundRect">
            <a:avLst>
              <a:gd name="adj" fmla="val 8000"/>
            </a:avLst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92807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Segoe UI"/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2103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Benford's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834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7A0BD"/>
                </a:solidFill>
                <a:latin typeface="Segoe UI"/>
              </a:rPr>
              <a:t>first-digit χ² test vs log distribution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42615"/>
            <a:ext cx="5852160" cy="713232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752344"/>
            <a:ext cx="566928" cy="502920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52344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Segoe UI"/>
              </a:rPr>
              <a:t>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42615"/>
            <a:ext cx="2103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Statistical anomalies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42615"/>
            <a:ext cx="2834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7A0BD"/>
                </a:solidFill>
                <a:latin typeface="Segoe UI"/>
              </a:rPr>
              <a:t>robust z-scores (median/MAD)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02151"/>
            <a:ext cx="5852160" cy="713232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611879"/>
            <a:ext cx="566928" cy="502920"/>
          </a:xfrm>
          <a:prstGeom prst="roundRect">
            <a:avLst>
              <a:gd name="adj" fmla="val 8000"/>
            </a:avLst>
          </a:prstGeom>
          <a:solidFill>
            <a:srgbClr val="FFD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11879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Segoe UI"/>
              </a:rPr>
              <a:t>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502151"/>
            <a:ext cx="2103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Vendor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502151"/>
            <a:ext cx="2834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7A0BD"/>
                </a:solidFill>
                <a:latin typeface="Segoe UI"/>
              </a:rPr>
              <a:t>share, HHI cartel index, pattern flags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361688"/>
            <a:ext cx="5852160" cy="713232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471416"/>
            <a:ext cx="566928" cy="502920"/>
          </a:xfrm>
          <a:prstGeom prst="roundRect">
            <a:avLst>
              <a:gd name="adj" fmla="val 8000"/>
            </a:avLst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71416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Segoe UI"/>
              </a:rPr>
              <a:t>L4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61688"/>
            <a:ext cx="2103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Temporal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361688"/>
            <a:ext cx="2834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7A0BD"/>
                </a:solidFill>
                <a:latin typeface="Segoe UI"/>
              </a:rPr>
              <a:t>threshold-split, weekend, FYE spike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21223"/>
            <a:ext cx="5852160" cy="713232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5330951"/>
            <a:ext cx="566928" cy="502920"/>
          </a:xfrm>
          <a:prstGeom prst="roundRect">
            <a:avLst>
              <a:gd name="adj" fmla="val 8000"/>
            </a:avLst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330951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Segoe UI"/>
              </a:rPr>
              <a:t>L5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221223"/>
            <a:ext cx="21031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Segoe UI"/>
              </a:rPr>
              <a:t>Ghost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221223"/>
            <a:ext cx="283464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7A0BD"/>
                </a:solidFill>
                <a:latin typeface="Segoe UI"/>
              </a:rPr>
              <a:t>fuzzy names ≥86% + address clusters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1783080"/>
            <a:ext cx="4800600" cy="4160520"/>
          </a:xfrm>
          <a:prstGeom prst="roundRect">
            <a:avLst>
              <a:gd name="adj" fmla="val 8000"/>
            </a:avLst>
          </a:prstGeom>
          <a:solidFill>
            <a:srgbClr val="2A0F14"/>
          </a:solidFill>
          <a:ln w="15240">
            <a:solidFill>
              <a:srgbClr val="FF5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1920240"/>
            <a:ext cx="438912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FF5C5C"/>
                </a:solidFill>
                <a:latin typeface="Segoe UI"/>
              </a:rPr>
              <a:t>CAUGHT THE INJECTED FRAUD ✅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1">
                <a:solidFill>
                  <a:srgbClr val="FF9933"/>
                </a:solidFill>
                <a:latin typeface="Segoe UI"/>
              </a:rPr>
              <a:t>PWD — 45.3 HIGH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12 payments just below ₹50k approval threshold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500" b="1">
                <a:solidFill>
                  <a:srgbClr val="FF9933"/>
                </a:solidFill>
                <a:latin typeface="Segoe UI"/>
              </a:rPr>
              <a:t>Education — 47.5 HIGH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₹1–2L round payments on Saturdays to one vendor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FFD666"/>
                </a:solidFill>
                <a:latin typeface="Segoe UI"/>
              </a:rPr>
              <a:t>Water Dept — 41.2 MEDIUM · March fiscal spike (2.7σ)</a:t>
            </a:r>
          </a:p>
          <a:p>
            <a:pPr algn="l">
              <a:lnSpc>
                <a:spcPct val="118000"/>
              </a:lnSpc>
            </a:pPr>
            <a:r>
              <a:rPr sz="1300" b="1">
                <a:solidFill>
                  <a:srgbClr val="2EB872"/>
                </a:solidFill>
                <a:latin typeface="Segoe UI"/>
              </a:rPr>
              <a:t>21 ghost duplicate pairs found · clean depts stayed 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3716028636000" cy="20116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16028636000" y="6656832"/>
            <a:ext cx="371602863600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32057272000" y="6656832"/>
            <a:ext cx="3716028636000" cy="20116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8D6D0"/>
                </a:solidFill>
                <a:latin typeface="Segoe UI"/>
              </a:rPr>
              <a:t>MODULE 5 — DISASTER RESPONSE NEURAL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FFFFFF"/>
                </a:solidFill>
                <a:latin typeface="Segoe UI"/>
              </a:rPr>
              <a:t>From reactive chaos to predictive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577840" cy="4160520"/>
          </a:xfrm>
          <a:prstGeom prst="roundRect">
            <a:avLst>
              <a:gd name="adj" fmla="val 8000"/>
            </a:avLst>
          </a:prstGeom>
          <a:solidFill>
            <a:srgbClr val="0F1C2A"/>
          </a:solidFill>
          <a:ln w="15240">
            <a:solidFill>
              <a:srgbClr val="3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51206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38D6D0"/>
                </a:solidFill>
                <a:latin typeface="Segoe UI"/>
              </a:rPr>
              <a:t>🦠 SEIR EPIDEMIC SIMULATOR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dS/dt = −βSI/N · dE/dt = βSI/N − σE · dI/dt = σE − γI · dR/dt = γI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97A0BD"/>
                </a:solidFill>
                <a:latin typeface="Segoe UI"/>
              </a:rPr>
              <a:t>4 what-if scenarios (0 / 20 / 40 / 60% contact reduction):</a:t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FF5C5C"/>
                </a:solidFill>
                <a:latin typeface="Segoe UI"/>
              </a:rPr>
              <a:t>No action → peak 162,637 concurrent cases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2EB872"/>
                </a:solidFill>
                <a:latin typeface="Segoe UI"/>
              </a:rPr>
              <a:t>Full response → peak collapses to 1,516  (−99%)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9933"/>
                </a:solidFill>
                <a:latin typeface="Segoe UI"/>
              </a:rPr>
              <a:t>CROSS-MODULE LINK → hospital peak demand 8,132 beds vs 4,640 capacity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→ DEFICIT 3,496 beds: field hospitals + district rerouting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828800"/>
            <a:ext cx="5074920" cy="4160520"/>
          </a:xfrm>
          <a:prstGeom prst="roundRect">
            <a:avLst>
              <a:gd name="adj" fmla="val 8000"/>
            </a:avLst>
          </a:prstGeom>
          <a:solidFill>
            <a:srgbClr val="0F2A24"/>
          </a:solidFill>
          <a:ln w="1524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965960"/>
            <a:ext cx="46177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B872"/>
                </a:solidFill>
                <a:latin typeface="Segoe UI"/>
              </a:rPr>
              <a:t>🌊 FLOOD RISK — 12 KARNATAKA DISTRICTS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risk = 0.35·rain + 0.30·river + 0.20·terrain + 0.15·history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FF5C5C"/>
                </a:solidFill>
                <a:latin typeface="Segoe UI"/>
              </a:rPr>
              <a:t>SEVERE: Kodagu 91.6 · Uttara Kannada 87.9 · Dakshina Kannada 81.6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~3.9 lakh people potentially displaced (48h window)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2EB872"/>
                </a:solidFill>
                <a:latin typeface="Segoe UI"/>
              </a:rPr>
              <a:t>AUTO-GENERATED RESPONSE PLANS: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97A0BD"/>
                </a:solidFill>
                <a:latin typeface="Segoe UI"/>
              </a:rPr>
              <a:t>93 shelters · 93 water tankers · medical teams · boats ·
vernacular early-warning SMS — per district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3716028636000" cy="20116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16028636000" y="6656832"/>
            <a:ext cx="371602863600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32057272000" y="6656832"/>
            <a:ext cx="3716028636000" cy="20116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B872"/>
                </a:solidFill>
                <a:latin typeface="Segoe UI"/>
              </a:rPr>
              <a:t>MODULES 7 &amp; 8 — TRUST LAYER + CITIZEN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"/>
              </a:rPr>
              <a:t>Tamper-proof records + grievances in any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577840" cy="4160520"/>
          </a:xfrm>
          <a:prstGeom prst="roundRect">
            <a:avLst>
              <a:gd name="adj" fmla="val 8000"/>
            </a:avLst>
          </a:prstGeom>
          <a:solidFill>
            <a:srgbClr val="142A16"/>
          </a:solidFill>
          <a:ln w="1524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512064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B872"/>
                </a:solidFill>
                <a:latin typeface="Segoe UI"/>
              </a:rPr>
              <a:t>⛓️ TRANSPARENCY BLOCKCHAIN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hash = SHA-256(index · time · data · prev_hash · nonce)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Every AI action (match / audit / ticket / alert) is appended as an immutable block — no mining, no crypto, pure integrity.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00" b="1">
                <a:solidFill>
                  <a:srgbClr val="FF5C5C"/>
                </a:solidFill>
                <a:latin typeface="Segoe UI"/>
              </a:rPr>
              <a:t>LIVE HACKER SIMULATION: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97A0BD"/>
                </a:solidFill>
                <a:latin typeface="Segoe UI"/>
              </a:rPr>
              <a:t>attacker edits a signed record → verification recomputes every hash → ⛔ TAMPER DETECTED at block N → one-click repair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828800"/>
            <a:ext cx="5074920" cy="4160520"/>
          </a:xfrm>
          <a:prstGeom prst="roundRect">
            <a:avLst>
              <a:gd name="adj" fmla="val 8000"/>
            </a:avLst>
          </a:prstGeom>
          <a:solidFill>
            <a:srgbClr val="2A1022"/>
          </a:solidFill>
          <a:ln w="15240">
            <a:solidFill>
              <a:srgbClr val="FF6B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965960"/>
            <a:ext cx="46177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>
                <a:solidFill>
                  <a:srgbClr val="FF6B9D"/>
                </a:solidFill>
                <a:latin typeface="Segoe UI"/>
              </a:rPr>
              <a:t>🗣️ CITIZEN VOICE NLP (EN · हिंदी · తెలుగు · ಕನ್ನಡ)</a:t>
            </a:r>
          </a:p>
          <a:p>
            <a:pPr algn="l">
              <a:lnSpc>
                <a:spcPct val="122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350" b="0">
                <a:solidFill>
                  <a:srgbClr val="FFFFFF"/>
                </a:solidFill>
                <a:latin typeface="Segoe UI"/>
              </a:rPr>
              <a:t>language → sentiment → 9-category intent → urgency → P1–P4 ticket + department auto-routing</a:t>
            </a:r>
          </a:p>
          <a:p>
            <a:pPr algn="l">
              <a:lnSpc>
                <a:spcPct val="122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350" b="1">
                <a:solidFill>
                  <a:srgbClr val="FFD666"/>
                </a:solidFill>
                <a:latin typeface="Segoe UI"/>
              </a:rPr>
              <a:t>“राशन कार्ड के लिए दलाल 500 रुपये मांग रहा है”</a:t>
            </a:r>
          </a:p>
          <a:p>
            <a:pPr algn="l">
              <a:lnSpc>
                <a:spcPct val="122000"/>
              </a:lnSpc>
            </a:pPr>
            <a:r>
              <a:rPr sz="1300" b="0">
                <a:solidFill>
                  <a:srgbClr val="97A0BD"/>
                </a:solidFill>
                <a:latin typeface="Segoe UI"/>
              </a:rPr>
              <a:t>→ detected: Hindi · corruption ×4 weighting → routed to LOKAYUKTA, not the ration office</a:t>
            </a:r>
          </a:p>
          <a:p>
            <a:pPr algn="l">
              <a:lnSpc>
                <a:spcPct val="122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300" b="1">
                <a:solidFill>
                  <a:srgbClr val="2EB872"/>
                </a:solidFill>
                <a:latin typeface="Segoe UI"/>
              </a:rPr>
              <a:t>Snake-bite emergency → P1 ticket, 1-hour SLA, field dispatch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56832"/>
            <a:ext cx="3716028636000" cy="20116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16028636000" y="6656832"/>
            <a:ext cx="371602863600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32057272000" y="6656832"/>
            <a:ext cx="3716028636000" cy="20116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C8CFF"/>
                </a:solidFill>
                <a:latin typeface="Segoe UI"/>
              </a:rP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1">
                <a:solidFill>
                  <a:srgbClr val="FFFFFF"/>
                </a:solidFill>
                <a:latin typeface="Segoe UI"/>
              </a:rPr>
              <a:t>100% free &amp; open — engineered like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5740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1020"/>
                </a:solidFill>
                <a:latin typeface="Segoe UI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7C8CFF"/>
                </a:solidFill>
                <a:latin typeface="Segoe UI"/>
              </a:rPr>
              <a:t>·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Python 3.11–3.13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1012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7C8CFF"/>
                </a:solidFill>
                <a:latin typeface="Segoe UI"/>
              </a:rPr>
              <a:t>·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FastAPI + Uvicorn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77056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7C8CFF"/>
                </a:solidFill>
                <a:latin typeface="Segoe UI"/>
              </a:rPr>
              <a:t>·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12 REST endpoints + auto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4398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7C8CFF"/>
                </a:solidFill>
                <a:latin typeface="Segoe UI"/>
              </a:rPr>
              <a:t>·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Zero external AI deps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82880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21608" y="205740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8" y="205740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1020"/>
                </a:solidFill>
                <a:latin typeface="Segoe UI"/>
              </a:rPr>
              <a:t>AI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7432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9933"/>
                </a:solidFill>
                <a:latin typeface="Segoe UI"/>
              </a:rPr>
              <a:t>·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cosine similarity + knapsack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331012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9933"/>
                </a:solidFill>
                <a:latin typeface="Segoe UI"/>
              </a:rPr>
              <a:t>·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Benford χ² + z-scores + HHI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3877056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9933"/>
                </a:solidFill>
                <a:latin typeface="Segoe UI"/>
              </a:rPr>
              <a:t>·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SEIR ODE solver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444398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9933"/>
                </a:solidFill>
                <a:latin typeface="Segoe UI"/>
              </a:rPr>
              <a:t>·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fuzzy matcher + SHA-256 chain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82880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74536" y="205740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205740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1020"/>
                </a:solidFill>
                <a:latin typeface="Segoe UI"/>
              </a:rP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27432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8D6D0"/>
                </a:solidFill>
                <a:latin typeface="Segoe UI"/>
              </a:rPr>
              <a:t>·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vanilla JS SPA — no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331012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8D6D0"/>
                </a:solidFill>
                <a:latin typeface="Segoe UI"/>
              </a:rPr>
              <a:t>·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hand-rolled SVG 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3877056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8D6D0"/>
                </a:solidFill>
                <a:latin typeface="Segoe UI"/>
              </a:rPr>
              <a:t>·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English / తెలుగు toggle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444398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8D6D0"/>
                </a:solidFill>
                <a:latin typeface="Segoe UI"/>
              </a:rPr>
              <a:t>·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PWA-ready responsive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98864" y="182880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27464" y="205740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27464" y="2057400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B1020"/>
                </a:solidFill>
                <a:latin typeface="Segoe UI"/>
              </a:rPr>
              <a:t>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27464" y="27432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B872"/>
                </a:solidFill>
                <a:latin typeface="Segoe UI"/>
              </a:rPr>
              <a:t>·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25 pytest engine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7464" y="3310128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B872"/>
                </a:solidFill>
                <a:latin typeface="Segoe UI"/>
              </a:rPr>
              <a:t>·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GitHub Actions CI ×3 pythons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27464" y="3877056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B872"/>
                </a:solidFill>
                <a:latin typeface="Segoe UI"/>
              </a:rPr>
              <a:t>·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Docker + compose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7464" y="4443984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B872"/>
                </a:solidFill>
                <a:latin typeface="Segoe UI"/>
              </a:rPr>
              <a:t>· 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MIT licensed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349240"/>
            <a:ext cx="11018520" cy="868680"/>
          </a:xfrm>
          <a:prstGeom prst="roundRect">
            <a:avLst>
              <a:gd name="adj" fmla="val 8000"/>
            </a:avLst>
          </a:prstGeom>
          <a:solidFill>
            <a:srgbClr val="0F2A1C"/>
          </a:solidFill>
          <a:ln w="1524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349240"/>
            <a:ext cx="105156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B872"/>
                </a:solidFill>
                <a:latin typeface="Segoe UI"/>
              </a:rPr>
              <a:t>TOTAL BUILD &amp; RUN COST: ₹0  —  no paid APIs, no cloud, no licenses. Deploy: pip install -r requirements.txt &amp;&amp; uvicorn app.main:app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3716028636000" cy="20116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16028636000" y="6656832"/>
            <a:ext cx="371602863600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32057272000" y="6656832"/>
            <a:ext cx="3716028636000" cy="20116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D666"/>
                </a:solidFill>
                <a:latin typeface="Segoe U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FFFFFF"/>
                </a:solidFill>
                <a:latin typeface="Segoe UI"/>
              </a:rPr>
              <a:t>Tests caught a real epidemiology bug — before GitHub did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94960" cy="4160520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49377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2EB872"/>
                </a:solidFill>
                <a:latin typeface="Segoe UI"/>
              </a:rPr>
              <a:t>25/25 PYTEST TESTS — GREEN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• scheme eligibility ×5 (Lakshmi, farmer, income-block, conflicts)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• corruption ×5 (determinism, injected fraud, ghosts, Benford)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• blockchain ×3 (verify, tamper-detect, repair)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• resources ×3 (reroute fires, healthy doesn't, ranking order)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• disaster ×3 (SEIR conservation, −60% effect, Kodagu SEVERE)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FFFFFF"/>
                </a:solidFill>
                <a:latin typeface="Segoe UI"/>
              </a:rPr>
              <a:t>• voice NLP ×6 (4 langs, routing, bribe→Lokayukta, P1, feed)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257800" cy="1920240"/>
          </a:xfrm>
          <a:prstGeom prst="roundRect">
            <a:avLst>
              <a:gd name="adj" fmla="val 8000"/>
            </a:avLst>
          </a:prstGeom>
          <a:solidFill>
            <a:srgbClr val="2A1810"/>
          </a:solidFill>
          <a:ln w="1524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993392"/>
            <a:ext cx="4846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9933"/>
                </a:solidFill>
                <a:latin typeface="Segoe UI"/>
              </a:rPr>
              <a:t>🐛 THE BUG THE TESTS CAUGHT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97A0BD"/>
                </a:solidFill>
                <a:latin typeface="Segoe UI"/>
              </a:rPr>
              <a:t>SEIR conservation test: S+E+I+R ≠ population — initial E₀ was never subtracted from S. Silent +240 ghost people at t=0. Fixed, locked with a regression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977639"/>
            <a:ext cx="5257800" cy="2011680"/>
          </a:xfrm>
          <a:prstGeom prst="roundRect">
            <a:avLst>
              <a:gd name="adj" fmla="val 8000"/>
            </a:avLst>
          </a:prstGeom>
          <a:solidFill>
            <a:srgbClr val="0F1C2A"/>
          </a:solidFill>
          <a:ln w="15240">
            <a:solidFill>
              <a:srgbClr val="7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4142232"/>
            <a:ext cx="48463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7C8CFF"/>
                </a:solidFill>
                <a:latin typeface="Segoe UI"/>
              </a:rPr>
              <a:t>☁️ CI — GITHUB ACTIONS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97A0BD"/>
                </a:solidFill>
                <a:latin typeface="Segoe UI"/>
              </a:rPr>
              <a:t>On every push: pytest × {3.11, 3.12, 3.13} + JS syntax check + live server boot smoke test hitting all 9 endpoint groups.</a:t>
            </a:r>
          </a:p>
          <a:p>
            <a:pPr algn="l">
              <a:lnSpc>
                <a:spcPct val="125000"/>
              </a:lnSpc>
            </a:pPr>
            <a:r>
              <a:rPr sz="1350" b="1">
                <a:solidFill>
                  <a:srgbClr val="2EB872"/>
                </a:solidFill>
                <a:latin typeface="Segoe UI"/>
              </a:rPr>
              <a:t>Status: ✅ passing (live badge on README)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56832"/>
            <a:ext cx="3716028636000" cy="20116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16028636000" y="6656832"/>
            <a:ext cx="371602863600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32057272000" y="6656832"/>
            <a:ext cx="3716028636000" cy="20116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B872"/>
                </a:solidFill>
                <a:latin typeface="Segoe U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What changes when governance thinks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51760" cy="1874519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0116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B872"/>
                </a:solidFill>
                <a:latin typeface="Segoe UI"/>
              </a:rPr>
              <a:t>₹44k+/yr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78892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extra benefits per matched
citizen family (demo)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1828800"/>
            <a:ext cx="2651760" cy="1874519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20116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8D6D0"/>
                </a:solidFill>
                <a:latin typeface="Segoe UI"/>
              </a:rPr>
              <a:t>−40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278892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wait time via hospital
reroute advisory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828800"/>
            <a:ext cx="2651760" cy="1874519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0116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9933"/>
                </a:solidFill>
                <a:latin typeface="Segoe UI"/>
              </a:rPr>
              <a:t>−99%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78892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epidemic peak with full
AI-guided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98863" y="1828800"/>
            <a:ext cx="2651760" cy="1874519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00032" y="2011680"/>
            <a:ext cx="2286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6B9D"/>
                </a:solidFill>
                <a:latin typeface="Segoe UI"/>
              </a:rPr>
              <a:t>120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278892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97A0BD"/>
                </a:solidFill>
                <a:latin typeface="Segoe UI"/>
              </a:rPr>
              <a:t>full corruption audit of
1,250 transactions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23360"/>
            <a:ext cx="11018520" cy="1965960"/>
          </a:xfrm>
          <a:prstGeom prst="roundRect">
            <a:avLst>
              <a:gd name="adj" fmla="val 8000"/>
            </a:avLst>
          </a:prstGeom>
          <a:solidFill>
            <a:srgbClr val="112A22"/>
          </a:solidFill>
          <a:ln w="15240">
            <a:solidFill>
              <a:srgbClr val="2EB8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2EB872"/>
                </a:solidFill>
                <a:latin typeface="Segoe UI"/>
              </a:rPr>
              <a:t>SDG ALIGNMENT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FFFFFF"/>
                </a:solidFill>
                <a:latin typeface="Segoe UI"/>
              </a:rPr>
              <a:t>No Poverty (1) · Zero Hunger (2) · Good Health (3) · Quality Education (4) · Clean Water (6) · Reduced Inequality (10) · Sustainable Cities (11) · Climate Action (13) · Peace &amp; Justice (16)</a:t>
            </a:r>
          </a:p>
          <a:p>
            <a:pPr algn="l">
              <a:lnSpc>
                <a:spcPct val="135000"/>
              </a:lnSpc>
            </a:pPr>
            <a:r>
              <a:rPr sz="1400" b="1">
                <a:solidFill>
                  <a:srgbClr val="FF9933"/>
                </a:solidFill>
                <a:latin typeface="Segoe UI"/>
              </a:rPr>
              <a:t>Every rupee saved from leakage is a rupee delivered to the last mile.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3716028636000" cy="20116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16028636000" y="6656832"/>
            <a:ext cx="371602863600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32057272000" y="6656832"/>
            <a:ext cx="3716028636000" cy="20116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7C8CFF"/>
                </a:solidFill>
                <a:latin typeface="Segoe UI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11556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Segoe UI"/>
              </a:rPr>
              <a:t>From Mysuru MVP to national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10512"/>
            <a:ext cx="10972800" cy="1024128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048256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48256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Segoe UI"/>
              </a:rPr>
              <a:t>NOW —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810512"/>
            <a:ext cx="768096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7A0BD"/>
                </a:solidFill>
                <a:latin typeface="Segoe UI"/>
              </a:rPr>
              <a:t>8 modules live · 1 district · deterministic demo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1810512"/>
            <a:ext cx="640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Segoe UI"/>
              </a:rPr>
              <a:t>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10972800" cy="1024128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3209544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09544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Segoe UI"/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971800"/>
            <a:ext cx="768096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7A0BD"/>
                </a:solidFill>
                <a:latin typeface="Segoe UI"/>
              </a:rPr>
              <a:t>Module 6 Predictive Governance (LSTM + Prophet demand
forecasting) · Module 9 Coordination 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2971800"/>
            <a:ext cx="640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Segoe UI"/>
              </a:rPr>
              <a:t>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33087"/>
            <a:ext cx="10972800" cy="1024128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370831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370831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Segoe UI"/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133087"/>
            <a:ext cx="768096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7A0BD"/>
                </a:solidFill>
                <a:latin typeface="Segoe UI"/>
              </a:rPr>
              <a:t>PostgreSQL + PostGIS/pgvector · live govt data feeds
(Airflow ETL from data.gov.in) · auth + RBAC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4133087"/>
            <a:ext cx="640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Segoe UI"/>
              </a:rPr>
              <a:t>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94375"/>
            <a:ext cx="10972800" cy="1024128"/>
          </a:xfrm>
          <a:prstGeom prst="roundRect">
            <a:avLst>
              <a:gd name="adj" fmla="val 8000"/>
            </a:avLst>
          </a:prstGeom>
          <a:solidFill>
            <a:srgbClr val="162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5532119"/>
            <a:ext cx="1737360" cy="548640"/>
          </a:xfrm>
          <a:prstGeom prst="roundRect">
            <a:avLst>
              <a:gd name="adj" fmla="val 8000"/>
            </a:avLst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32119"/>
            <a:ext cx="1737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020"/>
                </a:solidFill>
                <a:latin typeface="Segoe UI"/>
              </a:rPr>
              <a:t>PHASE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294375"/>
            <a:ext cx="768096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7A0BD"/>
                </a:solidFill>
                <a:latin typeface="Segoe UI"/>
              </a:rPr>
              <a:t>State pilot → national scale · Kafka streaming · K3s
· 12-language voice interface · ₹0 forever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5294375"/>
            <a:ext cx="640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Segoe UI"/>
              </a:rPr>
              <a:t>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3716028636000" cy="20116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16028636000" y="6656832"/>
            <a:ext cx="371602863600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32057272000" y="6656832"/>
            <a:ext cx="3716028636000" cy="20116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292840" y="638251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97A0BD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56957" y="2642997"/>
            <a:ext cx="87161" cy="87161"/>
          </a:xfrm>
          <a:prstGeom prst="ellipse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891754" y="3885859"/>
            <a:ext cx="124955" cy="124955"/>
          </a:xfrm>
          <a:prstGeom prst="ellipse">
            <a:avLst/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558439" y="2269939"/>
            <a:ext cx="66603" cy="66603"/>
          </a:xfrm>
          <a:prstGeom prst="ellipse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71716" y="1528569"/>
            <a:ext cx="113332" cy="113332"/>
          </a:xfrm>
          <a:prstGeom prst="ellipse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57293" y="6186748"/>
            <a:ext cx="126387" cy="126387"/>
          </a:xfrm>
          <a:prstGeom prst="ellipse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5905" y="656164"/>
            <a:ext cx="55691" cy="55691"/>
          </a:xfrm>
          <a:prstGeom prst="ellipse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53824" y="1826356"/>
            <a:ext cx="110146" cy="110146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61197" y="5909146"/>
            <a:ext cx="90616" cy="90616"/>
          </a:xfrm>
          <a:prstGeom prst="ellipse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11606" y="4778990"/>
            <a:ext cx="52008" cy="52008"/>
          </a:xfrm>
          <a:prstGeom prst="ellipse">
            <a:avLst/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40372" y="4369461"/>
            <a:ext cx="102035" cy="102035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8474" y="5985948"/>
            <a:ext cx="64371" cy="64371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7400" y="2886356"/>
            <a:ext cx="68494" cy="68494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21133" y="2625116"/>
            <a:ext cx="98039" cy="98039"/>
          </a:xfrm>
          <a:prstGeom prst="ellipse">
            <a:avLst/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44936" y="1213715"/>
            <a:ext cx="86899" cy="86899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03193" y="4600515"/>
            <a:ext cx="99161" cy="99161"/>
          </a:xfrm>
          <a:prstGeom prst="ellipse">
            <a:avLst/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4474" y="6024099"/>
            <a:ext cx="89135" cy="89135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4600" y="6264157"/>
            <a:ext cx="47663" cy="47663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74465" y="4841141"/>
            <a:ext cx="74880" cy="74880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8339" y="3711402"/>
            <a:ext cx="113111" cy="113111"/>
          </a:xfrm>
          <a:prstGeom prst="ellipse">
            <a:avLst/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86430" y="5971505"/>
            <a:ext cx="77891" cy="77891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35619" y="5702544"/>
            <a:ext cx="83864" cy="83864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01724" y="3875053"/>
            <a:ext cx="102866" cy="102866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77650" y="442017"/>
            <a:ext cx="52326" cy="52326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99645" y="6451328"/>
            <a:ext cx="126168" cy="126168"/>
          </a:xfrm>
          <a:prstGeom prst="ellipse">
            <a:avLst/>
          </a:prstGeom>
          <a:solidFill>
            <a:srgbClr val="3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85184" y="4868956"/>
            <a:ext cx="98842" cy="98842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46696" y="3681728"/>
            <a:ext cx="93149" cy="93149"/>
          </a:xfrm>
          <a:prstGeom prst="ellipse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0265" y="4049522"/>
            <a:ext cx="89698" cy="89698"/>
          </a:xfrm>
          <a:prstGeom prst="ellipse">
            <a:avLst/>
          </a:prstGeom>
          <a:solidFill>
            <a:srgbClr val="7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92442" y="1057347"/>
            <a:ext cx="117038" cy="117038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45245" y="435033"/>
            <a:ext cx="73246" cy="73246"/>
          </a:xfrm>
          <a:prstGeom prst="ellipse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626792" y="1404854"/>
            <a:ext cx="128539" cy="128539"/>
          </a:xfrm>
          <a:prstGeom prst="ellipse">
            <a:avLst/>
          </a:prstGeom>
          <a:solidFill>
            <a:srgbClr val="2E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>
                <a:solidFill>
                  <a:srgbClr val="FF9933"/>
                </a:solidFill>
                <a:latin typeface="Segoe UI"/>
              </a:rPr>
              <a:t>Thank you! 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Segoe UI"/>
              </a:rPr>
              <a:t>“Technology should serve democracy, not the other way around.”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38D6D0"/>
                </a:solidFill>
                <a:latin typeface="Segoe UI"/>
              </a:rPr>
              <a:t>Live demo:  python3 -m uvicorn app.main:app  →  http://localhost:8000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97A0BD"/>
                </a:solidFill>
                <a:latin typeface="Segoe UI"/>
              </a:rPr>
              <a:t>github.com/joyboyzz/BNGIS-AI-Governance   ·   Built with ❤️ for Bharat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7A0BD"/>
                </a:solidFill>
                <a:latin typeface="Segoe UI"/>
              </a:rPr>
              <a:t>Praveen Sudireddy (joyboyzz) — Final Year Project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56832"/>
            <a:ext cx="3716028636000" cy="20116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16028636000" y="6656832"/>
            <a:ext cx="3716028636000" cy="20116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32057272000" y="6656832"/>
            <a:ext cx="3716028636000" cy="20116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